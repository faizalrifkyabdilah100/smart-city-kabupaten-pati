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E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5943600" cy="4114800"/>
          </a:xfrm>
          <a:prstGeom prst="rect">
            <a:avLst/>
          </a:prstGeom>
          <a:solidFill>
            <a:srgbClr val="0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ACC15"/>
                </a:solidFill>
              </a:rPr>
              <a:t>SMART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KABUPATEN PATI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840480"/>
            <a:ext cx="484632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</a:rPr>
              <a:t>Portal Layanan Terpadu Berbasis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Dinas Komunikasi dan Informatika  ·  Kabupaten Pati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35040"/>
            <a:ext cx="3657600" cy="502920"/>
          </a:xfrm>
          <a:prstGeom prst="rect">
            <a:avLst/>
          </a:prstGeom>
          <a:solidFill>
            <a:srgbClr val="1E29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Diskominfo Kabupaten Pati  —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01  · 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Mengapa Smart City?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6576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54480"/>
            <a:ext cx="3566160" cy="3108960"/>
          </a:xfrm>
          <a:prstGeom prst="rect">
            <a:avLst/>
          </a:prstGeom>
          <a:solidFill>
            <a:srgbClr val="1E293B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Data Tersebar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Berbagai OPD memiliki data masing-masing yang tidak terintegrasi dan sulit diakses secara terpusat.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554480"/>
            <a:ext cx="3566160" cy="3108960"/>
          </a:xfrm>
          <a:prstGeom prst="rect">
            <a:avLst/>
          </a:prstGeom>
          <a:solidFill>
            <a:srgbClr val="1E293B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Monitoring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Pemantauan server, jaringan internet, dan CCTV dilakukan secara terpisah tanpa dashboard terpadu.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3108960"/>
          </a:xfrm>
          <a:prstGeom prst="rect">
            <a:avLst/>
          </a:prstGeom>
          <a:solidFill>
            <a:srgbClr val="1E293B"/>
          </a:solidFill>
          <a:ln w="76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Akses Tidak Terkelola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Belum ada sistem hak akses yang membedakan peran admin OPD dengan administrator utama.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800600"/>
            <a:ext cx="11475720" cy="914400"/>
          </a:xfrm>
          <a:prstGeom prst="rect">
            <a:avLst/>
          </a:prstGeom>
          <a:solidFill>
            <a:srgbClr val="063C57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CC15"/>
                </a:solidFill>
              </a:rPr>
              <a:t>💡  Solusi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12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Membangun Portal Smart City sebagai dashboard terpadu untuk monitoring dan pengelolaan data kota secara digital dan real-time.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02  ·  TUJUAN &amp; MANFAAT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Tujuan &amp; Manfaat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114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54480"/>
            <a:ext cx="5394960" cy="4206240"/>
          </a:xfrm>
          <a:prstGeom prst="rect">
            <a:avLst/>
          </a:prstGeom>
          <a:solidFill>
            <a:srgbClr val="1E293B"/>
          </a:solidFill>
          <a:ln w="762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🎯  Tujuan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48463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CBD5E1"/>
                </a:solidFill>
              </a:rPr>
              <a:t>  1.  Menyediakan dashboard monitoring infrastruktur digital secara real-time dari satu platform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BD5E1"/>
                </a:solidFill>
              </a:rPr>
              <a:t>  2.  Mengintegrasikan data dari berbagai sumber API (server, traffic, CCTV, menara) ke dalam satu tampilan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CBD5E1"/>
                </a:solidFill>
              </a:rPr>
              <a:t>  3.  Memberikan akses terkelola kepada admin OPD dengan sistem hak akses berbasis peran (Role-Based Access)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554480"/>
            <a:ext cx="5687568" cy="4206240"/>
          </a:xfrm>
          <a:prstGeom prst="rect">
            <a:avLst/>
          </a:prstGeom>
          <a:solidFill>
            <a:srgbClr val="1E293B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✅  Manfaat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148840"/>
            <a:ext cx="52120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Efisiensi Pengawasan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Server, jaringan, dan CCTV terpantau dari satu layar tanpa berpindah aplikasi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Data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20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Informasi trafik internet dan kondisi server diperbarui otomatis setiap beberapa detik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690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0690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Keamanan Akses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3891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Sistem autentikasi modern (JWT + Cookie) melindungi data dari akses tidak sah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3775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Transparansi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5779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Data lingkungan hidup dan infrastruktur kota dapat diakses oleh pihak berwenang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03  ·  FITUR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Apa Saja yang Bisa Dilakukan?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4864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2249424" cy="4983480"/>
          </a:xfrm>
          <a:prstGeom prst="rect">
            <a:avLst/>
          </a:prstGeom>
          <a:solidFill>
            <a:srgbClr val="1E29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08760"/>
            <a:ext cx="2249424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45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76272"/>
            <a:ext cx="2020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Dashboard Kominfo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670048"/>
            <a:ext cx="1975104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788920"/>
            <a:ext cx="20208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Monitoring server real-time (CPU, RAM, Storage)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CCTV live feed + daftar semua kamera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Trafik internet ISP (Nexa, Astinet, Indibiz)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Peta sebaran menara telekomunikasi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2615" y="1508760"/>
            <a:ext cx="2249424" cy="4983480"/>
          </a:xfrm>
          <a:prstGeom prst="rect">
            <a:avLst/>
          </a:prstGeom>
          <a:solidFill>
            <a:srgbClr val="1E293B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42615" y="1508760"/>
            <a:ext cx="2249424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5" y="1645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5" y="2176272"/>
            <a:ext cx="2020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Lingkungan Hidup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9775" y="2670048"/>
            <a:ext cx="1975104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5" y="2788920"/>
            <a:ext cx="20208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Data kapasitas TPA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Komposisi &amp; volume sampah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Data perusahaan &amp; sekolah Adiwiyata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Ruang Terbuka Hijau (RTH)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1508760"/>
            <a:ext cx="2249424" cy="4983480"/>
          </a:xfrm>
          <a:prstGeom prst="rect">
            <a:avLst/>
          </a:prstGeom>
          <a:solidFill>
            <a:srgbClr val="1E293B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508760"/>
            <a:ext cx="2249424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645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176272"/>
            <a:ext cx="2020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Infrastruktur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670048"/>
            <a:ext cx="1975104" cy="228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788920"/>
            <a:ext cx="20208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Data infrastruktur kota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Informasi fasilitas publik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2903" y="1508760"/>
            <a:ext cx="2249424" cy="4983480"/>
          </a:xfrm>
          <a:prstGeom prst="rect">
            <a:avLst/>
          </a:prstGeom>
          <a:solidFill>
            <a:srgbClr val="1E293B"/>
          </a:solidFill>
          <a:ln w="1016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2903" y="1508760"/>
            <a:ext cx="2249424" cy="73152"/>
          </a:xfrm>
          <a:prstGeom prst="rect">
            <a:avLst/>
          </a:prstGeom>
          <a:solidFill>
            <a:srgbClr val="FB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3" y="1645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3" y="2176272"/>
            <a:ext cx="2020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A"/>
                </a:solidFill>
              </a:rPr>
              <a:t>Kesehatan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3" y="2670048"/>
            <a:ext cx="1975104" cy="22860"/>
          </a:xfrm>
          <a:prstGeom prst="rect">
            <a:avLst/>
          </a:prstGeom>
          <a:solidFill>
            <a:srgbClr val="FB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3" y="2788920"/>
            <a:ext cx="20208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Data layanan kesehatan daerah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Informasi fasilitas medis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28048" y="1508760"/>
            <a:ext cx="2249424" cy="4983480"/>
          </a:xfrm>
          <a:prstGeom prst="rect">
            <a:avLst/>
          </a:prstGeom>
          <a:solidFill>
            <a:srgbClr val="1E293B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8048" y="1508760"/>
            <a:ext cx="2249424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5208" y="1645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2176272"/>
            <a:ext cx="2020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CC15"/>
                </a:solidFill>
              </a:rPr>
              <a:t>Manajemen User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65208" y="2670048"/>
            <a:ext cx="1975104" cy="228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8" y="2788920"/>
            <a:ext cx="20208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CRUD admin OPD (tambah/edit/hapus)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Role: Super Admin &amp; Admin OPD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Search &amp; pagination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BD5E1"/>
                </a:solidFill>
              </a:rPr>
              <a:t>• Proteksi CSRF + rate limiting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04  ·  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Bagaimana Sistem Bekerja?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0292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347472"/>
            <a:ext cx="11475720" cy="960120"/>
          </a:xfrm>
          <a:prstGeom prst="rect">
            <a:avLst/>
          </a:prstGeom>
          <a:solidFill>
            <a:srgbClr val="064255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47472"/>
            <a:ext cx="164592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389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🌐  Browser / Pengguna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Akses via browser desktop maupun mobile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606040"/>
            <a:ext cx="11475720" cy="960120"/>
          </a:xfrm>
          <a:prstGeom prst="rect">
            <a:avLst/>
          </a:prstGeom>
          <a:solidFill>
            <a:srgbClr val="06294F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2606040"/>
            <a:ext cx="164592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97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⚛️   Frontend — React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08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Vite  ·  Tailwind CSS  ·  Framer Motion  ·  React Router v6  ·  Recharts  ·  Leaflet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749039"/>
            <a:ext cx="11475720" cy="960120"/>
          </a:xfrm>
          <a:prstGeom prst="rect">
            <a:avLst/>
          </a:prstGeom>
          <a:solidFill>
            <a:srgbClr val="04372A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3749039"/>
            <a:ext cx="1645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404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🔧  Backend API — Express.js (Node.js)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5195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JWT Auth  ·  Rate Limiter  ·  Helmet  ·  Zod Validation  ·  Cookie Parser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892040"/>
            <a:ext cx="11475720" cy="960120"/>
          </a:xfrm>
          <a:prstGeom prst="rect">
            <a:avLst/>
          </a:prstGeom>
          <a:solidFill>
            <a:srgbClr val="3B2D00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4892040"/>
            <a:ext cx="164592" cy="9601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9834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CC15"/>
                </a:solidFill>
              </a:rPr>
              <a:t>🗄️   Database MySQL  +  API Eksternal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9495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Data user &amp; sesi  ·  Server · Traffic · CCTV · Menara (diproxy — IP tersembunyi dari browser)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764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5079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989320"/>
            <a:ext cx="11475720" cy="594360"/>
          </a:xfrm>
          <a:prstGeom prst="rect">
            <a:avLst/>
          </a:prstGeom>
          <a:solidFill>
            <a:srgbClr val="1A1F35"/>
          </a:solidFill>
          <a:ln w="6350">
            <a:solidFill>
              <a:srgbClr val="33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🔐  Alur Autentikasi: Login → JWT disimpan di HttpOnly Cookie (tidak bisa dicuri via JavaScript) → Setiap request membawa cookie otomatis → Backend verifikasi signature JWT sebelum melayani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05  ·  KEAMANAN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Keamanan yang Diterapkan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029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6184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HttpOnly Cookie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9842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Token JWT disimpan di HttpOnly Cookie — tidak bisa diakses atau dicuri oleh JavaScript (mitigasi XSS)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788920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986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CSRF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2644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Double Submit Cookie Pattern: setiap aksi mutasi data wajib menyertakan X-CSRF-Token header yang dicocokkan dengan cookie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4069079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160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17880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544567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Endpoint login dibatasi maksimal 10 percobaan per IP per 15 menit untuk mencegah serangan brute force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5349240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440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4589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Helmet.js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824727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HTTP security headers otomatis: X-Frame-Options, X-Content-Type-Options, Referrer-Policy, dan lainnya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508760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16184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Input Validation (Zod)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842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Setiap input divalidasi ketat di sisi server menggunakan Zod schema — menolak data yang tidak sesuai format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2788920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8986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Role-Based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2644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Hanya Super Admin yang dapat menambah, mengedit, dan menghapus user — Admin OPD hanya bisa melihat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4069079"/>
            <a:ext cx="557784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160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🕵️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17880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IP Internal Tersembunyi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4544567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URL server, CCTV, dan semua API eksternal diproxy melalui backend — tidak pernah terekspos ke browser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06  · 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 Stack yang Digunakan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0292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5486400" cy="5029200"/>
          </a:xfrm>
          <a:prstGeom prst="rect">
            <a:avLst/>
          </a:prstGeom>
          <a:solidFill>
            <a:srgbClr val="1E29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08760"/>
            <a:ext cx="5486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</a:rPr>
              <a:t>⚛️  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5029200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React 18 + TypeScript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Komponen UI dengan type safety penuh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Vite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Bundler modern — build &amp; hot-reload sangat cepat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Tailwind CSS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Utility-first CSS framework untuk styling responsif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Framer Motion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Animasi halaman &amp; komponen yang smooth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React Router v6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Client-side routing &amp; protected routes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Recharts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Library grafik interaktif (bar, pie chart)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▸  Leaflet / React-Leaflet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Peta interaktif untuk sebaran menara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508760"/>
            <a:ext cx="5596128" cy="5029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596128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🔧 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121408"/>
            <a:ext cx="5120640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Node.js + Express.js v5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Runtime &amp; web framework utama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MySQL 2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Database relasional untuk data user &amp; sesi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JSON Web Token (JWT)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Autentikasi stateless via HttpOnly Cookie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Bcrypt.js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Hashing password dengan salt rounds 10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Zod v4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Schema validation &amp; type inference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Helmet.js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HTTP security headers otomatis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express-rate-limit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Pembatasan laju request per IP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▸  cookie-parser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94A3B8"/>
                </a:solidFill>
              </a:rPr>
              <a:t>     Parsing HttpOnly &amp; CSRF cookie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07  ·  DEMONSTRASI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Demo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0" cy="3657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685800" cy="80467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673351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1508760"/>
            <a:ext cx="10698480" cy="804672"/>
          </a:xfrm>
          <a:prstGeom prst="rect">
            <a:avLst/>
          </a:prstGeom>
          <a:solidFill>
            <a:srgbClr val="1E293B"/>
          </a:solidFill>
          <a:ln w="63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56362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CC15"/>
                </a:solidFill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Masuk sebagai Super Admin → lihat sistem autentikasi JWT + CSRF token bekerja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496312"/>
            <a:ext cx="685800" cy="8046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66090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" y="2496312"/>
            <a:ext cx="10698480" cy="804672"/>
          </a:xfrm>
          <a:prstGeom prst="rect">
            <a:avLst/>
          </a:prstGeom>
          <a:solidFill>
            <a:srgbClr val="1E293B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255117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Dashboard Kominfo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91693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CCTV live feed · Monitoring server real-time · Trafik ISP · Peta menara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483864"/>
            <a:ext cx="685800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648456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3483864"/>
            <a:ext cx="10698480" cy="804672"/>
          </a:xfrm>
          <a:prstGeom prst="rect">
            <a:avLst/>
          </a:prstGeom>
          <a:solidFill>
            <a:srgbClr val="1E293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353872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Lingkungan Hidup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9044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Chart interaktif: kapasitas TPA, komposisi sampah, data RTH &amp; perusahaan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471416"/>
            <a:ext cx="685800" cy="8046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63600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" y="4471416"/>
            <a:ext cx="10698480" cy="804672"/>
          </a:xfrm>
          <a:prstGeom prst="rect">
            <a:avLst/>
          </a:prstGeom>
          <a:solidFill>
            <a:srgbClr val="1E293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45262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Manajemen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892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Tambah admin OPD baru → Edit data → Hapus dengan konfirmasi · Search &amp; pagination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458968"/>
            <a:ext cx="685800" cy="804672"/>
          </a:xfrm>
          <a:prstGeom prst="rect">
            <a:avLst/>
          </a:prstGeom>
          <a:solidFill>
            <a:srgbClr val="FB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562356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" y="5458968"/>
            <a:ext cx="10698480" cy="804672"/>
          </a:xfrm>
          <a:prstGeom prst="rect">
            <a:avLst/>
          </a:prstGeom>
          <a:solidFill>
            <a:srgbClr val="1E293B"/>
          </a:solidFill>
          <a:ln w="635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551383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A"/>
                </a:solidFill>
              </a:rPr>
              <a:t>Dark / Light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587959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Toggle tema secara real-time — UI menyesuaikan seluruh komponen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492240"/>
            <a:ext cx="11475720" cy="256032"/>
          </a:xfrm>
          <a:prstGeom prst="rect">
            <a:avLst/>
          </a:prstGeom>
          <a:solidFill>
            <a:srgbClr val="06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"  Mari kita lihat langsung sistemnya berjalan...  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E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08  · 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508760"/>
            <a:ext cx="73152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3385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Portal Smart City Kabupaten Pati berhasil mengintegrasikan monitoring infrastruktur digital ke dalam satu platform terpadu yang dapat diakses dari mana saja.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468880"/>
            <a:ext cx="73152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3385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Sistem dibangun dengan standar keamanan modern (JWT · CSRF · Rate Limiting · Helmet) yang siap digunakan di lingkungan pemerintahan.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429000"/>
            <a:ext cx="73152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113385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0215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Mendukung efisiensi kerja OPD dalam pemantauan data kota secara real-time tanpa perlu berpindah aplikasi.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526280"/>
            <a:ext cx="11475720" cy="1188720"/>
          </a:xfrm>
          <a:prstGeom prst="rect">
            <a:avLst/>
          </a:prstGeom>
          <a:solidFill>
            <a:srgbClr val="042A40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2D3EE"/>
                </a:solidFill>
              </a:rPr>
              <a:t>"  Dengan Smart City, Kabupaten Pati selangkah lebih maju menuju
tata kelola pemerintahan yang cerdas, transparan, dan efisien.  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5989320"/>
            <a:ext cx="11475720" cy="27432"/>
          </a:xfrm>
          <a:prstGeom prst="rect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080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Faizal Rifky Abdilah  ·  Diskominfo Kabupaten Pati  ·  faizalrifky16@gmail.com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